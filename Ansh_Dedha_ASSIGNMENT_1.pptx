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2" r:id="rId6"/>
    <p:sldId id="263" r:id="rId7"/>
    <p:sldId id="261" r:id="rId8"/>
    <p:sldId id="25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1CFC68-956C-4A88-810C-C716C2728D25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1F113-6313-4DD8-80B8-819161ECA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842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1F113-6313-4DD8-80B8-819161ECA01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067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27EF-55A5-4BEC-81BD-C2DD8C88CCB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FA0C-40D2-4D55-9436-C05FE07E7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799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27EF-55A5-4BEC-81BD-C2DD8C88CCB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FA0C-40D2-4D55-9436-C05FE07E7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524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27EF-55A5-4BEC-81BD-C2DD8C88CCB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FA0C-40D2-4D55-9436-C05FE07E7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891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27EF-55A5-4BEC-81BD-C2DD8C88CCB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FA0C-40D2-4D55-9436-C05FE07E7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39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27EF-55A5-4BEC-81BD-C2DD8C88CCB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FA0C-40D2-4D55-9436-C05FE07E7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13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27EF-55A5-4BEC-81BD-C2DD8C88CCB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FA0C-40D2-4D55-9436-C05FE07E7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492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27EF-55A5-4BEC-81BD-C2DD8C88CCB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FA0C-40D2-4D55-9436-C05FE07E7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26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27EF-55A5-4BEC-81BD-C2DD8C88CCB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FA0C-40D2-4D55-9436-C05FE07E7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340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27EF-55A5-4BEC-81BD-C2DD8C88CCB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FA0C-40D2-4D55-9436-C05FE07E7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670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27EF-55A5-4BEC-81BD-C2DD8C88CCB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FA0C-40D2-4D55-9436-C05FE07E7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42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27EF-55A5-4BEC-81BD-C2DD8C88CCB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FA0C-40D2-4D55-9436-C05FE07E7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813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827EF-55A5-4BEC-81BD-C2DD8C88CCBE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9FA0C-40D2-4D55-9436-C05FE07E7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9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u="sng" dirty="0" smtClean="0">
                <a:latin typeface="Bernard MT Condensed" panose="02050806060905020404" pitchFamily="18" charset="0"/>
              </a:rPr>
              <a:t>Difference Between a Traditional file system and DBMS</a:t>
            </a:r>
            <a:endParaRPr lang="en-IN" u="sng" dirty="0">
              <a:latin typeface="Bernard MT Condensed" panose="020508060609050204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523557"/>
          </a:xfrm>
        </p:spPr>
        <p:txBody>
          <a:bodyPr/>
          <a:lstStyle/>
          <a:p>
            <a:r>
              <a:rPr lang="en-US" dirty="0" smtClean="0">
                <a:latin typeface="Elephant" panose="02020904090505020303" pitchFamily="18" charset="0"/>
              </a:rPr>
              <a:t>Traditional File System</a:t>
            </a:r>
            <a:endParaRPr lang="en-IN" dirty="0">
              <a:latin typeface="Elephant" panose="02020904090505020303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367280"/>
            <a:ext cx="5157787" cy="4490721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Data Kept in separate files (</a:t>
            </a:r>
            <a:r>
              <a:rPr lang="en-US" dirty="0" err="1" smtClean="0"/>
              <a:t>text,csv,etc</a:t>
            </a:r>
            <a:r>
              <a:rPr lang="en-US" dirty="0" smtClean="0"/>
              <a:t>.)</a:t>
            </a:r>
          </a:p>
          <a:p>
            <a:r>
              <a:rPr lang="en-US" dirty="0" smtClean="0"/>
              <a:t>Redundancy is HIGH-same data may be repeated in multiple files.</a:t>
            </a:r>
          </a:p>
          <a:p>
            <a:r>
              <a:rPr lang="en-US" dirty="0" smtClean="0"/>
              <a:t>Handled individually for each           file.</a:t>
            </a:r>
          </a:p>
          <a:p>
            <a:r>
              <a:rPr lang="en-US" dirty="0" smtClean="0"/>
              <a:t>Data can be </a:t>
            </a:r>
            <a:r>
              <a:rPr lang="en-US" dirty="0" err="1" smtClean="0"/>
              <a:t>accesed</a:t>
            </a:r>
            <a:r>
              <a:rPr lang="en-US" dirty="0" smtClean="0"/>
              <a:t> through custom programs written by developer.</a:t>
            </a:r>
          </a:p>
          <a:p>
            <a:r>
              <a:rPr lang="en-US" dirty="0" smtClean="0"/>
              <a:t>Hard to maintain across files.</a:t>
            </a:r>
          </a:p>
          <a:p>
            <a:r>
              <a:rPr lang="en-US" dirty="0" smtClean="0"/>
              <a:t>EXAMPLE:- A Shop keeps its customer list in an Excel file. Anyone with the file can open it and change all customer details.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523557"/>
          </a:xfrm>
        </p:spPr>
        <p:txBody>
          <a:bodyPr/>
          <a:lstStyle/>
          <a:p>
            <a:r>
              <a:rPr lang="en-US" dirty="0" smtClean="0">
                <a:latin typeface="Elephant" panose="02020904090505020303" pitchFamily="18" charset="0"/>
              </a:rPr>
              <a:t>Database management system</a:t>
            </a:r>
            <a:endParaRPr lang="en-IN" dirty="0">
              <a:latin typeface="Elephant" panose="02020904090505020303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609" y="2367280"/>
            <a:ext cx="5183188" cy="449072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Data Stored in structured table inside one database.</a:t>
            </a:r>
          </a:p>
          <a:p>
            <a:r>
              <a:rPr lang="en-US" dirty="0" smtClean="0"/>
              <a:t>Redundancy is LOW-centralized storage reduces duplication.</a:t>
            </a:r>
          </a:p>
          <a:p>
            <a:r>
              <a:rPr lang="en-US" dirty="0" smtClean="0"/>
              <a:t>Built-in user authentication and permissions.</a:t>
            </a:r>
          </a:p>
          <a:p>
            <a:r>
              <a:rPr lang="en-US" dirty="0" smtClean="0"/>
              <a:t>Data can be </a:t>
            </a:r>
            <a:r>
              <a:rPr lang="en-US" dirty="0" err="1" smtClean="0"/>
              <a:t>accesed</a:t>
            </a:r>
            <a:r>
              <a:rPr lang="en-US" dirty="0" smtClean="0"/>
              <a:t> through SQL Queries provided by DBMS.</a:t>
            </a:r>
          </a:p>
          <a:p>
            <a:r>
              <a:rPr lang="en-US" dirty="0" smtClean="0"/>
              <a:t>Automatically maintained by DBMS.</a:t>
            </a:r>
          </a:p>
          <a:p>
            <a:r>
              <a:rPr lang="en-US" dirty="0" smtClean="0"/>
              <a:t>EXAMPLE :- The same shop starts keeping its customer list in a </a:t>
            </a:r>
            <a:r>
              <a:rPr lang="en-US" dirty="0" err="1" smtClean="0"/>
              <a:t>databse</a:t>
            </a:r>
            <a:r>
              <a:rPr lang="en-US" dirty="0" smtClean="0"/>
              <a:t>. Now the cashier can only view customer </a:t>
            </a:r>
            <a:r>
              <a:rPr lang="en-US" dirty="0" err="1" smtClean="0"/>
              <a:t>names,while</a:t>
            </a:r>
            <a:r>
              <a:rPr lang="en-US" dirty="0" smtClean="0"/>
              <a:t> the manager can add or edit customer details.</a:t>
            </a:r>
          </a:p>
          <a:p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997575" y="1767840"/>
            <a:ext cx="16034" cy="499872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444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440" y="233681"/>
            <a:ext cx="10515600" cy="467360"/>
          </a:xfrm>
        </p:spPr>
        <p:txBody>
          <a:bodyPr>
            <a:noAutofit/>
          </a:bodyPr>
          <a:lstStyle/>
          <a:p>
            <a:pPr algn="ctr"/>
            <a:r>
              <a:rPr lang="en-US" sz="4800" b="1" u="sng" dirty="0" smtClean="0">
                <a:latin typeface="Stencil" panose="040409050D0802020404" pitchFamily="82" charset="0"/>
                <a:ea typeface="Microsoft JhengHei UI Light" panose="020B0304030504040204" pitchFamily="34" charset="-120"/>
              </a:rPr>
              <a:t>DATA ABSTRACTION</a:t>
            </a:r>
            <a:endParaRPr lang="en-IN" sz="4800" b="1" u="sng" dirty="0">
              <a:latin typeface="Stencil" panose="040409050D0802020404" pitchFamily="82" charset="0"/>
              <a:ea typeface="Microsoft JhengHei UI Light" panose="020B03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955040"/>
            <a:ext cx="121920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i="1" dirty="0" smtClean="0">
              <a:latin typeface="Bell MT" panose="02020503060305020303" pitchFamily="18" charset="0"/>
            </a:endParaRPr>
          </a:p>
          <a:p>
            <a:r>
              <a:rPr lang="en-US" sz="2800" b="1" i="1" dirty="0" smtClean="0">
                <a:latin typeface="Bell MT" panose="02020503060305020303" pitchFamily="18" charset="0"/>
              </a:rPr>
              <a:t>Data abstraction means hiding the details of how data </a:t>
            </a:r>
            <a:r>
              <a:rPr lang="en-US" sz="2800" b="1" i="1" dirty="0" err="1" smtClean="0">
                <a:latin typeface="Bell MT" panose="02020503060305020303" pitchFamily="18" charset="0"/>
              </a:rPr>
              <a:t>os</a:t>
            </a:r>
            <a:r>
              <a:rPr lang="en-US" sz="2800" b="1" i="1" dirty="0" smtClean="0">
                <a:latin typeface="Bell MT" panose="02020503060305020303" pitchFamily="18" charset="0"/>
              </a:rPr>
              <a:t> stored and showing only the part the user needs.</a:t>
            </a:r>
          </a:p>
          <a:p>
            <a:endParaRPr lang="en-US" sz="2800" b="1" i="1" dirty="0" smtClean="0">
              <a:latin typeface="Bell MT" panose="02020503060305020303" pitchFamily="18" charset="0"/>
            </a:endParaRPr>
          </a:p>
          <a:p>
            <a:r>
              <a:rPr lang="en-US" sz="2800" dirty="0" smtClean="0">
                <a:latin typeface="Stencil" panose="040409050D0802020404" pitchFamily="82" charset="0"/>
              </a:rPr>
              <a:t>It has Three levels</a:t>
            </a:r>
            <a:r>
              <a:rPr lang="en-US" sz="2800" b="1" i="1" dirty="0" smtClean="0">
                <a:latin typeface="Stencil" panose="040409050D0802020404" pitchFamily="82" charset="0"/>
              </a:rPr>
              <a:t>: -</a:t>
            </a:r>
          </a:p>
          <a:p>
            <a:endParaRPr lang="en-US" sz="2800" b="1" i="1" dirty="0" smtClean="0">
              <a:latin typeface="Stencil" panose="040409050D0802020404" pitchFamily="82" charset="0"/>
            </a:endParaRPr>
          </a:p>
          <a:p>
            <a:pPr marL="514350" indent="-514350">
              <a:buAutoNum type="arabicParenR"/>
            </a:pPr>
            <a:r>
              <a:rPr lang="en-US" sz="2800" dirty="0" smtClean="0">
                <a:latin typeface="Stencil" panose="040409050D0802020404" pitchFamily="82" charset="0"/>
              </a:rPr>
              <a:t>Physical Level </a:t>
            </a:r>
            <a:r>
              <a:rPr lang="en-US" sz="2800" b="1" dirty="0" smtClean="0">
                <a:latin typeface="Bell MT" panose="02020503060305020303" pitchFamily="18" charset="0"/>
              </a:rPr>
              <a:t>- </a:t>
            </a:r>
            <a:r>
              <a:rPr lang="en-US" sz="2800" b="1" i="1" dirty="0" smtClean="0">
                <a:latin typeface="Bell MT" panose="02020503060305020303" pitchFamily="18" charset="0"/>
              </a:rPr>
              <a:t>how data is physically stored on disk (hidden from user).</a:t>
            </a:r>
          </a:p>
          <a:p>
            <a:pPr marL="514350" indent="-514350">
              <a:buAutoNum type="arabicParenR"/>
            </a:pPr>
            <a:endParaRPr lang="en-US" sz="2800" b="1" i="1" dirty="0" smtClean="0">
              <a:latin typeface="Bell MT" panose="02020503060305020303" pitchFamily="18" charset="0"/>
            </a:endParaRPr>
          </a:p>
          <a:p>
            <a:pPr marL="514350" indent="-514350">
              <a:buAutoNum type="arabicParenR"/>
            </a:pPr>
            <a:r>
              <a:rPr lang="en-US" sz="2800" b="1" dirty="0" smtClean="0">
                <a:latin typeface="Stencil" panose="040409050D0802020404" pitchFamily="82" charset="0"/>
              </a:rPr>
              <a:t>Logical Level </a:t>
            </a:r>
            <a:r>
              <a:rPr lang="en-US" sz="2800" b="1" i="1" dirty="0" smtClean="0">
                <a:latin typeface="Stencil" panose="040409050D0802020404" pitchFamily="82" charset="0"/>
              </a:rPr>
              <a:t>-  </a:t>
            </a:r>
            <a:r>
              <a:rPr lang="en-US" sz="2800" b="1" i="1" dirty="0" smtClean="0">
                <a:latin typeface="Bell MT" panose="02020503060305020303" pitchFamily="18" charset="0"/>
              </a:rPr>
              <a:t>what data is stored and the relationships between data (visible to DBA).</a:t>
            </a:r>
          </a:p>
          <a:p>
            <a:pPr marL="514350" indent="-514350">
              <a:buAutoNum type="arabicParenR"/>
            </a:pPr>
            <a:endParaRPr lang="en-US" sz="2800" b="1" i="1" dirty="0">
              <a:latin typeface="Bell MT" panose="02020503060305020303" pitchFamily="18" charset="0"/>
            </a:endParaRPr>
          </a:p>
          <a:p>
            <a:pPr marL="514350" indent="-514350">
              <a:buAutoNum type="arabicParenR"/>
            </a:pPr>
            <a:r>
              <a:rPr lang="en-US" sz="2800" b="1" dirty="0" smtClean="0">
                <a:latin typeface="Stencil" panose="040409050D0802020404" pitchFamily="82" charset="0"/>
              </a:rPr>
              <a:t>VIEW LEVEL – </a:t>
            </a:r>
            <a:r>
              <a:rPr lang="en-US" sz="2800" b="1" i="1" dirty="0" smtClean="0">
                <a:latin typeface="Bell MT" panose="02020503060305020303" pitchFamily="18" charset="0"/>
              </a:rPr>
              <a:t>what each user sees; a customized “view” of the data.</a:t>
            </a:r>
          </a:p>
          <a:p>
            <a:endParaRPr lang="en-IN" sz="2800" b="1" i="1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586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680" y="81279"/>
            <a:ext cx="10515600" cy="68072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latin typeface="Elephant" panose="02020904090505020303" pitchFamily="18" charset="0"/>
              </a:rPr>
              <a:t>Data Independence</a:t>
            </a:r>
            <a:endParaRPr lang="en-IN" b="1" u="sng" dirty="0">
              <a:latin typeface="Elephant" panose="020209040905050203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944880"/>
            <a:ext cx="125069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Bahnschrift Light Condensed" panose="020B0502040204020203" pitchFamily="34" charset="0"/>
              </a:rPr>
              <a:t>Data independence means you can change one level of the database without affecting the others.</a:t>
            </a:r>
          </a:p>
          <a:p>
            <a:endParaRPr lang="en-US" sz="3200" dirty="0" smtClean="0">
              <a:latin typeface="Bahnschrift Light Condensed" panose="020B0502040204020203" pitchFamily="34" charset="0"/>
            </a:endParaRPr>
          </a:p>
          <a:p>
            <a:r>
              <a:rPr lang="en-US" sz="3200" u="sng" dirty="0" smtClean="0">
                <a:latin typeface="Bernard MT Condensed" panose="02050806060905020404" pitchFamily="18" charset="0"/>
              </a:rPr>
              <a:t>These are of two types :-</a:t>
            </a:r>
          </a:p>
          <a:p>
            <a:r>
              <a:rPr lang="en-US" sz="2800" b="1" dirty="0" smtClean="0">
                <a:latin typeface="Algerian" panose="04020705040A02060702" pitchFamily="82" charset="0"/>
                <a:ea typeface="Microsoft JhengHei UI Light" panose="020B0304030504040204" pitchFamily="34" charset="-120"/>
              </a:rPr>
              <a:t>Physical Data Independence:-</a:t>
            </a:r>
            <a:r>
              <a:rPr lang="en-US" sz="28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changes in physical storage (</a:t>
            </a:r>
            <a:r>
              <a:rPr lang="en-US" sz="2800" dirty="0" err="1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e.g.,moving</a:t>
            </a:r>
            <a:r>
              <a:rPr lang="en-US" sz="28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 to a new disk)do not affect the logical schema or user views.</a:t>
            </a:r>
          </a:p>
          <a:p>
            <a:r>
              <a:rPr lang="en-US" sz="2800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 </a:t>
            </a:r>
            <a:endParaRPr lang="en-US" sz="2800" dirty="0" smtClean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  <a:p>
            <a:r>
              <a:rPr lang="en-US" sz="2800" b="1" u="sng" dirty="0" smtClean="0">
                <a:latin typeface="Algerian" panose="04020705040A02060702" pitchFamily="82" charset="0"/>
                <a:ea typeface="Microsoft JhengHei UI Light" panose="020B0304030504040204" pitchFamily="34" charset="-120"/>
              </a:rPr>
              <a:t>Logical</a:t>
            </a:r>
            <a:r>
              <a:rPr lang="en-US" sz="2800" b="1" dirty="0" smtClean="0">
                <a:latin typeface="Stencil" panose="040409050D0802020404" pitchFamily="82" charset="0"/>
                <a:ea typeface="Microsoft JhengHei UI Light" panose="020B0304030504040204" pitchFamily="34" charset="-120"/>
              </a:rPr>
              <a:t> </a:t>
            </a:r>
            <a:r>
              <a:rPr lang="en-US" sz="2800" b="1" u="sng" dirty="0" smtClean="0">
                <a:latin typeface="Algerian" panose="04020705040A02060702" pitchFamily="82" charset="0"/>
                <a:ea typeface="Microsoft JhengHei UI Light" panose="020B0304030504040204" pitchFamily="34" charset="-120"/>
              </a:rPr>
              <a:t>Data</a:t>
            </a:r>
            <a:r>
              <a:rPr lang="en-US" sz="2800" b="1" dirty="0" smtClean="0">
                <a:latin typeface="Stencil" panose="040409050D0802020404" pitchFamily="82" charset="0"/>
                <a:ea typeface="Microsoft JhengHei UI Light" panose="020B0304030504040204" pitchFamily="34" charset="-120"/>
              </a:rPr>
              <a:t> </a:t>
            </a:r>
            <a:r>
              <a:rPr lang="en-US" sz="2800" b="1" u="sng" dirty="0" smtClean="0">
                <a:latin typeface="Algerian" panose="04020705040A02060702" pitchFamily="82" charset="0"/>
                <a:ea typeface="Microsoft JhengHei UI Light" panose="020B0304030504040204" pitchFamily="34" charset="-120"/>
              </a:rPr>
              <a:t>Independence</a:t>
            </a:r>
            <a:r>
              <a:rPr lang="en-US" sz="2800" b="1" dirty="0" smtClean="0">
                <a:latin typeface="Stencil" panose="040409050D0802020404" pitchFamily="82" charset="0"/>
                <a:ea typeface="Microsoft JhengHei UI Light" panose="020B0304030504040204" pitchFamily="34" charset="-120"/>
              </a:rPr>
              <a:t>:- </a:t>
            </a:r>
            <a:r>
              <a:rPr lang="en-US" sz="2800" dirty="0" smtClean="0">
                <a:latin typeface="Bell MT" panose="02020503060305020303" pitchFamily="18" charset="0"/>
                <a:ea typeface="Microsoft JhengHei UI Light" panose="020B0304030504040204" pitchFamily="34" charset="-120"/>
              </a:rPr>
              <a:t>changes in logical schema (e.g., adding a new </a:t>
            </a:r>
            <a:r>
              <a:rPr lang="en-US" sz="2800" dirty="0" err="1" smtClean="0">
                <a:latin typeface="Bell MT" panose="02020503060305020303" pitchFamily="18" charset="0"/>
                <a:ea typeface="Microsoft JhengHei UI Light" panose="020B0304030504040204" pitchFamily="34" charset="-120"/>
              </a:rPr>
              <a:t>coloumn</a:t>
            </a:r>
            <a:r>
              <a:rPr lang="en-US" sz="2800" dirty="0" smtClean="0">
                <a:latin typeface="Bell MT" panose="02020503060305020303" pitchFamily="18" charset="0"/>
                <a:ea typeface="Microsoft JhengHei UI Light" panose="020B0304030504040204" pitchFamily="34" charset="-120"/>
              </a:rPr>
              <a:t>) do not affect existing user views or programs</a:t>
            </a:r>
          </a:p>
          <a:p>
            <a:endParaRPr lang="en-US" sz="2800" b="1" dirty="0" smtClean="0">
              <a:latin typeface="Stencil" panose="040409050D0802020404" pitchFamily="82" charset="0"/>
              <a:ea typeface="Microsoft JhengHei UI Light" panose="020B0304030504040204" pitchFamily="34" charset="-120"/>
            </a:endParaRPr>
          </a:p>
          <a:p>
            <a:endParaRPr lang="en-IN" sz="2800" dirty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54142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236200" cy="17335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TYPES OF SQL COMMANDS:-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0160" y="1016000"/>
            <a:ext cx="121920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latin typeface="Stencil" panose="040409050D0802020404" pitchFamily="82" charset="0"/>
              </a:rPr>
              <a:t>1)DDL :- Data Definition Language</a:t>
            </a:r>
          </a:p>
          <a:p>
            <a:r>
              <a:rPr lang="en-US" sz="32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Defines and manages the structure of the database(</a:t>
            </a:r>
            <a:r>
              <a:rPr lang="en-US" sz="3200" dirty="0" err="1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tables,views,indexes</a:t>
            </a:r>
            <a:r>
              <a:rPr lang="en-US" sz="32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). </a:t>
            </a:r>
          </a:p>
          <a:p>
            <a:r>
              <a:rPr lang="en-US" sz="3200" dirty="0" smtClean="0">
                <a:latin typeface="Algerian" panose="04020705040A02060702" pitchFamily="82" charset="0"/>
                <a:ea typeface="Microsoft JhengHei UI Light" panose="020B0304030504040204" pitchFamily="34" charset="-120"/>
              </a:rPr>
              <a:t>EXAMPLES:-</a:t>
            </a:r>
          </a:p>
          <a:p>
            <a:r>
              <a:rPr lang="en-US" sz="2800" b="1" dirty="0" smtClean="0">
                <a:latin typeface="Bell MT" panose="02020503060305020303" pitchFamily="18" charset="0"/>
                <a:ea typeface="Microsoft JhengHei UI Light" panose="020B0304030504040204" pitchFamily="34" charset="-120"/>
              </a:rPr>
              <a:t>*CREATE TABLE Students(…)-</a:t>
            </a:r>
            <a:r>
              <a:rPr lang="en-US" sz="2800" i="1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creates a new table.</a:t>
            </a:r>
          </a:p>
          <a:p>
            <a:endParaRPr lang="en-US" sz="2800" dirty="0" smtClean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  <a:p>
            <a:r>
              <a:rPr lang="en-US" sz="2800" b="1" dirty="0" smtClean="0">
                <a:latin typeface="Bell MT" panose="02020503060305020303" pitchFamily="18" charset="0"/>
                <a:ea typeface="Microsoft JhengHei UI Light" panose="020B0304030504040204" pitchFamily="34" charset="-120"/>
              </a:rPr>
              <a:t>*Alter Table Students </a:t>
            </a:r>
            <a:r>
              <a:rPr lang="en-US" sz="2800" i="1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ADD </a:t>
            </a:r>
            <a:r>
              <a:rPr lang="en-US" sz="2800" i="1" dirty="0" err="1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PhoneNo</a:t>
            </a:r>
            <a:r>
              <a:rPr lang="en-US" sz="2800" i="1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 VARCHAR(15)-modifies an existing table.</a:t>
            </a:r>
          </a:p>
          <a:p>
            <a:endParaRPr lang="en-US" sz="2800" dirty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  <a:p>
            <a:r>
              <a:rPr lang="en-US" sz="2800" b="1" dirty="0" smtClean="0">
                <a:latin typeface="Bell MT" panose="02020503060305020303" pitchFamily="18" charset="0"/>
                <a:ea typeface="Microsoft JhengHei UI Light" panose="020B0304030504040204" pitchFamily="34" charset="-120"/>
              </a:rPr>
              <a:t>*DROP TABLE Students- </a:t>
            </a:r>
            <a:r>
              <a:rPr lang="en-US" sz="2800" i="1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deletes a table completely</a:t>
            </a:r>
            <a:r>
              <a:rPr lang="en-US" sz="28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.</a:t>
            </a:r>
          </a:p>
          <a:p>
            <a:endParaRPr lang="en-US" sz="2800" dirty="0" smtClean="0">
              <a:latin typeface="Algerian" panose="04020705040A02060702" pitchFamily="82" charset="0"/>
              <a:ea typeface="Microsoft JhengHei UI Light" panose="020B0304030504040204" pitchFamily="34" charset="-120"/>
            </a:endParaRPr>
          </a:p>
          <a:p>
            <a:r>
              <a:rPr lang="en-US" sz="2800" b="1" u="sng" dirty="0" smtClean="0">
                <a:latin typeface="Algerian" panose="04020705040A02060702" pitchFamily="82" charset="0"/>
                <a:ea typeface="Microsoft JhengHei UI Light" panose="020B0304030504040204" pitchFamily="34" charset="-120"/>
              </a:rPr>
              <a:t>USE CASE:- </a:t>
            </a:r>
            <a:r>
              <a:rPr lang="en-US" sz="28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setting up the database structure at the beginning of a project.</a:t>
            </a:r>
          </a:p>
          <a:p>
            <a:endParaRPr lang="en-US" sz="2800" dirty="0" smtClean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  <a:p>
            <a:endParaRPr lang="en-US" sz="3200" dirty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353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960" y="-111759"/>
            <a:ext cx="10515600" cy="77215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Algerian" panose="04020705040A02060702" pitchFamily="82" charset="0"/>
              </a:rPr>
              <a:t>DML-Data Manipulation Language </a:t>
            </a:r>
            <a:endParaRPr lang="en-IN" sz="4000" b="1" dirty="0">
              <a:latin typeface="Algerian" panose="04020705040A02060702" pitchFamily="8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1920" y="660400"/>
            <a:ext cx="114808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Bell MT" panose="02020503060305020303" pitchFamily="18" charset="0"/>
              </a:rPr>
              <a:t>Used to insert, </a:t>
            </a:r>
            <a:r>
              <a:rPr lang="en-US" sz="2800" dirty="0" err="1" smtClean="0">
                <a:latin typeface="Bell MT" panose="02020503060305020303" pitchFamily="18" charset="0"/>
              </a:rPr>
              <a:t>update,delete</a:t>
            </a:r>
            <a:r>
              <a:rPr lang="en-US" sz="2800" dirty="0" smtClean="0">
                <a:latin typeface="Bell MT" panose="02020503060305020303" pitchFamily="18" charset="0"/>
              </a:rPr>
              <a:t>, or fetch the actual data inside the table.</a:t>
            </a:r>
          </a:p>
          <a:p>
            <a:r>
              <a:rPr lang="en-US" sz="2800" b="1" dirty="0" smtClean="0">
                <a:latin typeface="Stencil" panose="040409050D0802020404" pitchFamily="82" charset="0"/>
              </a:rPr>
              <a:t>EXAMPLE:-</a:t>
            </a:r>
          </a:p>
          <a:p>
            <a:r>
              <a:rPr lang="en-US" sz="2800" dirty="0" smtClean="0">
                <a:latin typeface="Bell MT" panose="02020503060305020303" pitchFamily="18" charset="0"/>
              </a:rPr>
              <a:t>*INSERT INTO Students (</a:t>
            </a:r>
            <a:r>
              <a:rPr lang="en-US" sz="2800" dirty="0" err="1" smtClean="0">
                <a:latin typeface="Bell MT" panose="02020503060305020303" pitchFamily="18" charset="0"/>
              </a:rPr>
              <a:t>ID,Name</a:t>
            </a:r>
            <a:r>
              <a:rPr lang="en-US" sz="2800" dirty="0" smtClean="0">
                <a:latin typeface="Bell MT" panose="02020503060305020303" pitchFamily="18" charset="0"/>
              </a:rPr>
              <a:t>)VALUES(1,’Ansh’)-inserts a new record.</a:t>
            </a:r>
          </a:p>
          <a:p>
            <a:endParaRPr lang="en-US" sz="2800" dirty="0">
              <a:latin typeface="Bell MT" panose="02020503060305020303" pitchFamily="18" charset="0"/>
            </a:endParaRPr>
          </a:p>
          <a:p>
            <a:r>
              <a:rPr lang="en-US" sz="2800" dirty="0" smtClean="0">
                <a:latin typeface="Bell MT" panose="02020503060305020303" pitchFamily="18" charset="0"/>
              </a:rPr>
              <a:t>*UPDATE Students SET Name=‘</a:t>
            </a:r>
            <a:r>
              <a:rPr lang="en-US" sz="2800" dirty="0" err="1" smtClean="0">
                <a:latin typeface="Bell MT" panose="02020503060305020303" pitchFamily="18" charset="0"/>
              </a:rPr>
              <a:t>hansika’WHERE</a:t>
            </a:r>
            <a:r>
              <a:rPr lang="en-US" sz="2800" dirty="0" smtClean="0">
                <a:latin typeface="Bell MT" panose="02020503060305020303" pitchFamily="18" charset="0"/>
              </a:rPr>
              <a:t> ID=1</a:t>
            </a:r>
            <a:r>
              <a:rPr lang="en-IN" sz="2800" dirty="0" smtClean="0">
                <a:latin typeface="Bell MT" panose="02020503060305020303" pitchFamily="18" charset="0"/>
              </a:rPr>
              <a:t>-updates existing data.</a:t>
            </a:r>
          </a:p>
          <a:p>
            <a:endParaRPr lang="en-US" sz="2800" dirty="0">
              <a:latin typeface="Bell MT" panose="02020503060305020303" pitchFamily="18" charset="0"/>
            </a:endParaRPr>
          </a:p>
          <a:p>
            <a:r>
              <a:rPr lang="en-US" sz="2800" dirty="0" smtClean="0">
                <a:latin typeface="Bell MT" panose="02020503060305020303" pitchFamily="18" charset="0"/>
              </a:rPr>
              <a:t>*DELETE FROM Students WHERE ID=1-deletes a record.</a:t>
            </a:r>
          </a:p>
          <a:p>
            <a:endParaRPr lang="en-US" sz="2800" dirty="0">
              <a:latin typeface="Bell MT" panose="02020503060305020303" pitchFamily="18" charset="0"/>
            </a:endParaRPr>
          </a:p>
          <a:p>
            <a:r>
              <a:rPr lang="en-US" sz="2800" dirty="0" smtClean="0">
                <a:latin typeface="Bell MT" panose="02020503060305020303" pitchFamily="18" charset="0"/>
              </a:rPr>
              <a:t>*SELECT *FROM Students-retrieves data.</a:t>
            </a:r>
          </a:p>
          <a:p>
            <a:endParaRPr lang="en-US" sz="2800" dirty="0">
              <a:latin typeface="Bell MT" panose="02020503060305020303" pitchFamily="18" charset="0"/>
            </a:endParaRPr>
          </a:p>
          <a:p>
            <a:r>
              <a:rPr lang="en-US" sz="2800" dirty="0" smtClean="0">
                <a:latin typeface="Stencil" panose="040409050D0802020404" pitchFamily="82" charset="0"/>
              </a:rPr>
              <a:t>USE DATA:- </a:t>
            </a:r>
            <a:r>
              <a:rPr lang="en-US" sz="2800" dirty="0" smtClean="0">
                <a:latin typeface="Bell MT" panose="02020503060305020303" pitchFamily="18" charset="0"/>
              </a:rPr>
              <a:t>Day-to-day operations on data after the databases structure exists.</a:t>
            </a:r>
          </a:p>
        </p:txBody>
      </p:sp>
    </p:spTree>
    <p:extLst>
      <p:ext uri="{BB962C8B-B14F-4D97-AF65-F5344CB8AC3E}">
        <p14:creationId xmlns:p14="http://schemas.microsoft.com/office/powerpoint/2010/main" val="974866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440" y="447041"/>
            <a:ext cx="10515600" cy="124967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latin typeface="Arial Rounded MT Bold" panose="020F0704030504030204" pitchFamily="34" charset="0"/>
              </a:rPr>
              <a:t>DCL-Data Control Language</a:t>
            </a:r>
            <a:br>
              <a:rPr lang="en-US" b="1" u="sng" dirty="0" smtClean="0">
                <a:latin typeface="Arial Rounded MT Bold" panose="020F0704030504030204" pitchFamily="34" charset="0"/>
              </a:rPr>
            </a:br>
            <a:r>
              <a:rPr lang="en-US" b="1" u="sng" dirty="0">
                <a:latin typeface="Arial Rounded MT Bold" panose="020F0704030504030204" pitchFamily="34" charset="0"/>
              </a:rPr>
              <a:t/>
            </a:r>
            <a:br>
              <a:rPr lang="en-US" b="1" u="sng" dirty="0">
                <a:latin typeface="Arial Rounded MT Bold" panose="020F0704030504030204" pitchFamily="34" charset="0"/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-375920" y="738108"/>
            <a:ext cx="121920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600" i="1" dirty="0" smtClean="0">
              <a:latin typeface="Stencil" panose="040409050D0802020404" pitchFamily="82" charset="0"/>
            </a:endParaRPr>
          </a:p>
          <a:p>
            <a:pPr algn="ctr"/>
            <a:r>
              <a:rPr lang="en-US" sz="3600" i="1" dirty="0" smtClean="0">
                <a:latin typeface="Stencil" panose="040409050D0802020404" pitchFamily="82" charset="0"/>
              </a:rPr>
              <a:t>Manages user permission and access control.</a:t>
            </a:r>
          </a:p>
          <a:p>
            <a:r>
              <a:rPr lang="en-US" sz="3600" dirty="0" smtClean="0">
                <a:latin typeface="Stencil" panose="040409050D0802020404" pitchFamily="82" charset="0"/>
              </a:rPr>
              <a:t> </a:t>
            </a:r>
          </a:p>
          <a:p>
            <a:r>
              <a:rPr lang="en-US" sz="3600" dirty="0">
                <a:latin typeface="Stencil" panose="040409050D0802020404" pitchFamily="82" charset="0"/>
              </a:rPr>
              <a:t> </a:t>
            </a:r>
            <a:r>
              <a:rPr lang="en-US" sz="3600" dirty="0" smtClean="0">
                <a:latin typeface="Stencil" panose="040409050D0802020404" pitchFamily="82" charset="0"/>
              </a:rPr>
              <a:t>  </a:t>
            </a:r>
            <a:r>
              <a:rPr lang="en-US" sz="3600" b="1" u="sng" dirty="0" smtClean="0">
                <a:latin typeface="Algerian" panose="04020705040A02060702" pitchFamily="82" charset="0"/>
              </a:rPr>
              <a:t>Examples:-</a:t>
            </a:r>
          </a:p>
          <a:p>
            <a:r>
              <a:rPr lang="en-US" sz="3600" dirty="0">
                <a:latin typeface="Elephant" panose="02020904090505020303" pitchFamily="18" charset="0"/>
              </a:rPr>
              <a:t> </a:t>
            </a:r>
            <a:r>
              <a:rPr lang="en-US" sz="3600" dirty="0" smtClean="0">
                <a:latin typeface="Elephant" panose="02020904090505020303" pitchFamily="18" charset="0"/>
              </a:rPr>
              <a:t>  </a:t>
            </a:r>
            <a:r>
              <a:rPr lang="en-US" sz="2800" dirty="0" smtClean="0">
                <a:latin typeface="Bell MT" panose="02020503060305020303" pitchFamily="18" charset="0"/>
              </a:rPr>
              <a:t>*GRANT SELECT ON Students TO teacher1- gives a user permission to view </a:t>
            </a:r>
          </a:p>
          <a:p>
            <a:r>
              <a:rPr lang="en-US" sz="2800" dirty="0">
                <a:latin typeface="Bell MT" panose="02020503060305020303" pitchFamily="18" charset="0"/>
              </a:rPr>
              <a:t> </a:t>
            </a:r>
            <a:r>
              <a:rPr lang="en-US" sz="2800" dirty="0" smtClean="0">
                <a:latin typeface="Bell MT" panose="02020503060305020303" pitchFamily="18" charset="0"/>
              </a:rPr>
              <a:t>      data.</a:t>
            </a:r>
          </a:p>
          <a:p>
            <a:endParaRPr lang="en-US" sz="2800" dirty="0" smtClean="0">
              <a:latin typeface="Bell MT" panose="02020503060305020303" pitchFamily="18" charset="0"/>
            </a:endParaRPr>
          </a:p>
          <a:p>
            <a:r>
              <a:rPr lang="en-US" sz="2800" dirty="0">
                <a:latin typeface="Bell MT" panose="02020503060305020303" pitchFamily="18" charset="0"/>
              </a:rPr>
              <a:t> </a:t>
            </a:r>
            <a:r>
              <a:rPr lang="en-US" sz="2800" dirty="0" smtClean="0">
                <a:latin typeface="Bell MT" panose="02020503060305020303" pitchFamily="18" charset="0"/>
              </a:rPr>
              <a:t>   *REVOKE SELECT ON Students FROM teacher1-removes the permission.</a:t>
            </a:r>
          </a:p>
          <a:p>
            <a:endParaRPr lang="en-US" sz="2800" dirty="0">
              <a:latin typeface="Bell MT" panose="02020503060305020303" pitchFamily="18" charset="0"/>
            </a:endParaRPr>
          </a:p>
          <a:p>
            <a:r>
              <a:rPr lang="en-US" sz="2800" dirty="0" smtClean="0">
                <a:latin typeface="Bell MT" panose="02020503060305020303" pitchFamily="18" charset="0"/>
              </a:rPr>
              <a:t>    </a:t>
            </a:r>
            <a:r>
              <a:rPr lang="en-US" sz="2800" b="1" u="sng" dirty="0" smtClean="0">
                <a:latin typeface="Algerian" panose="04020705040A02060702" pitchFamily="82" charset="0"/>
              </a:rPr>
              <a:t>USE CASE :- </a:t>
            </a:r>
            <a:r>
              <a:rPr lang="en-US" sz="2800" i="1" dirty="0" smtClean="0">
                <a:latin typeface="Bell MT" panose="02020503060305020303" pitchFamily="18" charset="0"/>
              </a:rPr>
              <a:t>CONTROLLING WHO CAN READ OR MODIFY WHICH </a:t>
            </a:r>
          </a:p>
          <a:p>
            <a:r>
              <a:rPr lang="en-US" sz="2800" i="1" dirty="0">
                <a:latin typeface="Bell MT" panose="02020503060305020303" pitchFamily="18" charset="0"/>
              </a:rPr>
              <a:t> </a:t>
            </a:r>
            <a:r>
              <a:rPr lang="en-US" sz="2800" i="1" dirty="0" smtClean="0">
                <a:latin typeface="Bell MT" panose="02020503060305020303" pitchFamily="18" charset="0"/>
              </a:rPr>
              <a:t>                           TABLES IN A MULTI-USER ENVIROUMENT</a:t>
            </a:r>
            <a:r>
              <a:rPr lang="en-US" sz="2800" dirty="0" smtClean="0">
                <a:latin typeface="Bell MT" panose="02020503060305020303" pitchFamily="18" charset="0"/>
              </a:rPr>
              <a:t>.</a:t>
            </a:r>
            <a:endParaRPr lang="en-IN" sz="28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239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760" y="-122555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Bernard MT Condensed" panose="02050806060905020404" pitchFamily="18" charset="0"/>
              </a:rPr>
              <a:t>TCL-TRANSACTION CONTROL LANGUAGE</a:t>
            </a:r>
            <a:endParaRPr lang="en-IN" dirty="0">
              <a:latin typeface="Bernard MT Condensed" panose="020508060609050204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908368"/>
            <a:ext cx="11953240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Bell MT" panose="02020503060305020303" pitchFamily="18" charset="0"/>
              </a:rPr>
              <a:t>Controls transactions to maintain data integrity.</a:t>
            </a:r>
          </a:p>
          <a:p>
            <a:pPr algn="ctr"/>
            <a:r>
              <a:rPr lang="en-US" sz="3600" dirty="0" smtClean="0">
                <a:latin typeface="Bell MT" panose="02020503060305020303" pitchFamily="18" charset="0"/>
              </a:rPr>
              <a:t> </a:t>
            </a:r>
            <a:r>
              <a:rPr lang="en-US" sz="3600" b="1" u="sng" dirty="0" smtClean="0">
                <a:latin typeface="Algerian" panose="04020705040A02060702" pitchFamily="82" charset="0"/>
                <a:ea typeface="Microsoft JhengHei UI Light" panose="020B0304030504040204" pitchFamily="34" charset="-120"/>
              </a:rPr>
              <a:t>EXAMPLES:-</a:t>
            </a:r>
          </a:p>
          <a:p>
            <a:r>
              <a:rPr lang="en-US" sz="3600" b="1" u="sng" dirty="0" smtClean="0">
                <a:latin typeface="Arial" panose="020B0604020202020204" pitchFamily="34" charset="0"/>
                <a:ea typeface="Microsoft JhengHei UI Light" panose="020B0304030504040204" pitchFamily="34" charset="-120"/>
                <a:cs typeface="Arial" panose="020B0604020202020204" pitchFamily="34" charset="0"/>
              </a:rPr>
              <a:t>*COMMIT :- </a:t>
            </a:r>
            <a:r>
              <a:rPr lang="en-US" sz="36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permanently saves the changes.</a:t>
            </a:r>
          </a:p>
          <a:p>
            <a:endParaRPr lang="en-US" sz="3600" dirty="0" smtClean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  <a:p>
            <a:r>
              <a:rPr lang="en-US" sz="3600" b="1" u="sng" dirty="0" smtClean="0">
                <a:latin typeface="Arial" panose="020B0604020202020204" pitchFamily="34" charset="0"/>
                <a:ea typeface="Microsoft JhengHei UI Light" panose="020B0304030504040204" pitchFamily="34" charset="-120"/>
                <a:cs typeface="Arial" panose="020B0604020202020204" pitchFamily="34" charset="0"/>
              </a:rPr>
              <a:t>*Rollback:- </a:t>
            </a:r>
            <a:r>
              <a:rPr lang="en-US" sz="36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undoes changes since the last commit.</a:t>
            </a:r>
          </a:p>
          <a:p>
            <a:endParaRPr lang="en-US" sz="3600" dirty="0" smtClean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  <a:p>
            <a:r>
              <a:rPr lang="en-US" sz="3600" b="1" u="sng" dirty="0" smtClean="0">
                <a:latin typeface="Arial" panose="020B0604020202020204" pitchFamily="34" charset="0"/>
                <a:ea typeface="Microsoft JhengHei UI Light" panose="020B0304030504040204" pitchFamily="34" charset="-120"/>
                <a:cs typeface="Arial" panose="020B0604020202020204" pitchFamily="34" charset="0"/>
              </a:rPr>
              <a:t>*</a:t>
            </a:r>
            <a:r>
              <a:rPr lang="en-US" sz="3600" b="1" u="sng" dirty="0" err="1" smtClean="0">
                <a:latin typeface="Arial" panose="020B0604020202020204" pitchFamily="34" charset="0"/>
                <a:ea typeface="Microsoft JhengHei UI Light" panose="020B0304030504040204" pitchFamily="34" charset="-120"/>
                <a:cs typeface="Arial" panose="020B0604020202020204" pitchFamily="34" charset="0"/>
              </a:rPr>
              <a:t>Savepoint</a:t>
            </a:r>
            <a:r>
              <a:rPr lang="en-US" sz="3600" b="1" u="sng" dirty="0" smtClean="0">
                <a:latin typeface="Arial" panose="020B0604020202020204" pitchFamily="34" charset="0"/>
                <a:ea typeface="Microsoft JhengHei UI Light" panose="020B0304030504040204" pitchFamily="34" charset="-120"/>
                <a:cs typeface="Arial" panose="020B0604020202020204" pitchFamily="34" charset="0"/>
              </a:rPr>
              <a:t> :- </a:t>
            </a:r>
            <a:r>
              <a:rPr lang="en-US" sz="36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Arial" panose="020B0604020202020204" pitchFamily="34" charset="0"/>
              </a:rPr>
              <a:t>sets of a point to which you can roll back.</a:t>
            </a:r>
          </a:p>
          <a:p>
            <a:endParaRPr lang="en-US" sz="3600" dirty="0" smtClean="0">
              <a:latin typeface="Microsoft JhengHei UI Light" panose="020B0304030504040204" pitchFamily="34" charset="-120"/>
              <a:ea typeface="Microsoft JhengHei UI Light" panose="020B0304030504040204" pitchFamily="34" charset="-120"/>
              <a:cs typeface="Arial" panose="020B0604020202020204" pitchFamily="34" charset="0"/>
            </a:endParaRPr>
          </a:p>
          <a:p>
            <a:r>
              <a:rPr lang="en-US" sz="3600" b="1" u="sng" dirty="0" smtClean="0">
                <a:latin typeface="Algerian" panose="04020705040A02060702" pitchFamily="82" charset="0"/>
                <a:ea typeface="Microsoft JhengHei UI Light" panose="020B0304030504040204" pitchFamily="34" charset="-120"/>
                <a:cs typeface="Arial" panose="020B0604020202020204" pitchFamily="34" charset="0"/>
              </a:rPr>
              <a:t>USE CASES:- </a:t>
            </a:r>
            <a:r>
              <a:rPr lang="en-US" sz="36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Arial" panose="020B0604020202020204" pitchFamily="34" charset="0"/>
              </a:rPr>
              <a:t>banking </a:t>
            </a:r>
            <a:r>
              <a:rPr lang="en-US" sz="3600" dirty="0" err="1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Arial" panose="020B0604020202020204" pitchFamily="34" charset="0"/>
              </a:rPr>
              <a:t>systems,order</a:t>
            </a:r>
            <a:r>
              <a:rPr lang="en-US" sz="36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Arial" panose="020B0604020202020204" pitchFamily="34" charset="0"/>
              </a:rPr>
              <a:t> </a:t>
            </a:r>
            <a:r>
              <a:rPr lang="en-US" sz="3600" dirty="0" err="1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Arial" panose="020B0604020202020204" pitchFamily="34" charset="0"/>
              </a:rPr>
              <a:t>processing,or</a:t>
            </a:r>
            <a:r>
              <a:rPr lang="en-US" sz="3600" dirty="0" smtClean="0"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Arial" panose="020B0604020202020204" pitchFamily="34" charset="0"/>
              </a:rPr>
              <a:t> any place where multiple updates must be all-or-nothing.</a:t>
            </a:r>
          </a:p>
          <a:p>
            <a:endParaRPr lang="en-IN" sz="3600" dirty="0" smtClean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  <a:p>
            <a:endParaRPr lang="en-US" sz="3600" dirty="0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770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55601"/>
            <a:ext cx="9144000" cy="2235200"/>
          </a:xfrm>
        </p:spPr>
        <p:txBody>
          <a:bodyPr>
            <a:normAutofit/>
          </a:bodyPr>
          <a:lstStyle/>
          <a:p>
            <a:r>
              <a:rPr lang="en-US" b="1" i="1" u="sng" dirty="0" smtClean="0">
                <a:latin typeface="Impact" panose="020B0806030902050204" pitchFamily="34" charset="0"/>
              </a:rPr>
              <a:t>SQL ASSIGNMENT</a:t>
            </a:r>
            <a:br>
              <a:rPr lang="en-US" b="1" i="1" u="sng" dirty="0" smtClean="0">
                <a:latin typeface="Impact" panose="020B0806030902050204" pitchFamily="34" charset="0"/>
              </a:rPr>
            </a:br>
            <a:endParaRPr lang="en-IN" i="1" dirty="0">
              <a:latin typeface="Bahnschrift Light Condensed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8320" y="2479040"/>
            <a:ext cx="10566400" cy="4836160"/>
          </a:xfrm>
        </p:spPr>
        <p:txBody>
          <a:bodyPr>
            <a:normAutofit/>
          </a:bodyPr>
          <a:lstStyle/>
          <a:p>
            <a:r>
              <a:rPr lang="en-US" sz="4800" i="1" dirty="0" smtClean="0">
                <a:latin typeface="Bell MT" panose="02020503060305020303" pitchFamily="18" charset="0"/>
              </a:rPr>
              <a:t>Understanding DBMS Concepts</a:t>
            </a:r>
            <a:br>
              <a:rPr lang="en-US" sz="4800" i="1" dirty="0" smtClean="0">
                <a:latin typeface="Bell MT" panose="02020503060305020303" pitchFamily="18" charset="0"/>
              </a:rPr>
            </a:br>
            <a:r>
              <a:rPr lang="en-US" sz="4800" i="1" dirty="0" smtClean="0">
                <a:latin typeface="Bell MT" panose="02020503060305020303" pitchFamily="18" charset="0"/>
              </a:rPr>
              <a:t> and SQL Commands</a:t>
            </a:r>
            <a:endParaRPr lang="en-IN" sz="4800" i="1" dirty="0">
              <a:latin typeface="Bell MT" panose="02020503060305020303" pitchFamily="18" charset="0"/>
            </a:endParaRPr>
          </a:p>
          <a:p>
            <a:endParaRPr lang="en-US" i="1" dirty="0" smtClean="0">
              <a:latin typeface="Bahnschrift SemiBold" panose="020B0502040204020203" pitchFamily="34" charset="0"/>
            </a:endParaRPr>
          </a:p>
          <a:p>
            <a:endParaRPr lang="en-US" i="1" dirty="0">
              <a:latin typeface="Bahnschrift SemiBold" panose="020B0502040204020203" pitchFamily="34" charset="0"/>
            </a:endParaRPr>
          </a:p>
          <a:p>
            <a:endParaRPr lang="en-IN" i="1" dirty="0" smtClean="0">
              <a:latin typeface="Bahnschrift SemiBold" panose="020B0502040204020203" pitchFamily="34" charset="0"/>
            </a:endParaRPr>
          </a:p>
          <a:p>
            <a:r>
              <a:rPr lang="en-US" u="sng" dirty="0" err="1" smtClean="0">
                <a:latin typeface="Bahnschrift SemiBold SemiConden" panose="020B0502040204020203" pitchFamily="34" charset="0"/>
              </a:rPr>
              <a:t>Ansh</a:t>
            </a:r>
            <a:r>
              <a:rPr lang="en-US" u="sng" dirty="0" smtClean="0">
                <a:latin typeface="Bahnschrift SemiBold SemiConden" panose="020B0502040204020203" pitchFamily="34" charset="0"/>
              </a:rPr>
              <a:t> </a:t>
            </a:r>
            <a:r>
              <a:rPr lang="en-US" u="sng" dirty="0" err="1" smtClean="0">
                <a:latin typeface="Bahnschrift SemiBold SemiConden" panose="020B0502040204020203" pitchFamily="34" charset="0"/>
              </a:rPr>
              <a:t>Dedha</a:t>
            </a:r>
            <a:endParaRPr lang="en-US" u="sng" dirty="0" smtClean="0">
              <a:latin typeface="Bahnschrift SemiBold SemiConden" panose="020B0502040204020203" pitchFamily="34" charset="0"/>
            </a:endParaRPr>
          </a:p>
          <a:p>
            <a:r>
              <a:rPr lang="en-US" u="sng" dirty="0" err="1" smtClean="0">
                <a:latin typeface="Bahnschrift SemiBold SemiConden" panose="020B0502040204020203" pitchFamily="34" charset="0"/>
              </a:rPr>
              <a:t>B.Sc</a:t>
            </a:r>
            <a:r>
              <a:rPr lang="en-US" u="sng" dirty="0" smtClean="0">
                <a:latin typeface="Bahnschrift SemiBold SemiConden" panose="020B0502040204020203" pitchFamily="34" charset="0"/>
              </a:rPr>
              <a:t> Artificial Intelligence</a:t>
            </a:r>
            <a:endParaRPr lang="en-IN" u="sng" dirty="0">
              <a:latin typeface="Bahnschrift SemiBold SemiConden" panose="020B0502040204020203" pitchFamily="34" charset="0"/>
            </a:endParaRPr>
          </a:p>
        </p:txBody>
      </p:sp>
      <p:pic>
        <p:nvPicPr>
          <p:cNvPr id="4" name="Picture 3" descr="MySQL Workbench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618"/>
            <a:ext cx="12192000" cy="659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42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571</Words>
  <Application>Microsoft Office PowerPoint</Application>
  <PresentationFormat>Widescreen</PresentationFormat>
  <Paragraphs>86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5" baseType="lpstr">
      <vt:lpstr>Microsoft JhengHei UI Light</vt:lpstr>
      <vt:lpstr>Algerian</vt:lpstr>
      <vt:lpstr>Arial</vt:lpstr>
      <vt:lpstr>Arial Black</vt:lpstr>
      <vt:lpstr>Arial Narrow</vt:lpstr>
      <vt:lpstr>Arial Rounded MT Bold</vt:lpstr>
      <vt:lpstr>Bahnschrift Light Condensed</vt:lpstr>
      <vt:lpstr>Bahnschrift SemiBold</vt:lpstr>
      <vt:lpstr>Bahnschrift SemiBold SemiConden</vt:lpstr>
      <vt:lpstr>Bell MT</vt:lpstr>
      <vt:lpstr>Bernard MT Condensed</vt:lpstr>
      <vt:lpstr>Calibri</vt:lpstr>
      <vt:lpstr>Calibri Light</vt:lpstr>
      <vt:lpstr>Elephant</vt:lpstr>
      <vt:lpstr>Impact</vt:lpstr>
      <vt:lpstr>Stencil</vt:lpstr>
      <vt:lpstr>Office Theme</vt:lpstr>
      <vt:lpstr>Difference Between a Traditional file system and DBMS</vt:lpstr>
      <vt:lpstr>DATA ABSTRACTION</vt:lpstr>
      <vt:lpstr>Data Independence</vt:lpstr>
      <vt:lpstr>TYPES OF SQL COMMANDS:-</vt:lpstr>
      <vt:lpstr>DML-Data Manipulation Language </vt:lpstr>
      <vt:lpstr>DCL-Data Control Language   </vt:lpstr>
      <vt:lpstr>TCL-TRANSACTION CONTROL LANGUAGE</vt:lpstr>
      <vt:lpstr>SQL ASSIGNMENT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ASSIGNMENT</dc:title>
  <dc:creator>samsung</dc:creator>
  <cp:lastModifiedBy>samsung</cp:lastModifiedBy>
  <cp:revision>21</cp:revision>
  <dcterms:created xsi:type="dcterms:W3CDTF">2025-09-18T12:25:37Z</dcterms:created>
  <dcterms:modified xsi:type="dcterms:W3CDTF">2025-09-18T16:06:55Z</dcterms:modified>
</cp:coreProperties>
</file>